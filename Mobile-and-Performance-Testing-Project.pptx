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8229600" cx="14630400"/>
  <p:notesSz cx="8229600" cy="14630400"/>
  <p:embeddedFontLst>
    <p:embeddedFont>
      <p:font typeface="Open Sans Medium"/>
      <p:regular r:id="rId26"/>
      <p:bold r:id="rId27"/>
      <p:italic r:id="rId28"/>
      <p:boldItalic r:id="rId29"/>
    </p:embeddedFont>
    <p:embeddedFont>
      <p:font typeface="Unbounded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3AuV0m6WD1fqPBG3gbjGipl0e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Medium-regular.fntdata"/><Relationship Id="rId25" Type="http://schemas.openxmlformats.org/officeDocument/2006/relationships/slide" Target="slides/slide21.xml"/><Relationship Id="rId28" Type="http://schemas.openxmlformats.org/officeDocument/2006/relationships/font" Target="fonts/OpenSansMedium-italic.fntdata"/><Relationship Id="rId27" Type="http://schemas.openxmlformats.org/officeDocument/2006/relationships/font" Target="fonts/OpenSans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regular.fntdata"/><Relationship Id="rId30" Type="http://schemas.openxmlformats.org/officeDocument/2006/relationships/font" Target="fonts/Unbounded-bold.fntdata"/><Relationship Id="rId11" Type="http://schemas.openxmlformats.org/officeDocument/2006/relationships/slide" Target="slides/slide7.xml"/><Relationship Id="rId33" Type="http://schemas.openxmlformats.org/officeDocument/2006/relationships/font" Target="fonts/OpenSans-italic.fntdata"/><Relationship Id="rId10" Type="http://schemas.openxmlformats.org/officeDocument/2006/relationships/slide" Target="slides/slide6.xml"/><Relationship Id="rId32" Type="http://schemas.openxmlformats.org/officeDocument/2006/relationships/font" Target="fonts/OpenSans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Bashir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Bashir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Bashir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Bashir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Nisreen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2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2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2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3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3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6280190" y="2065020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i="0" lang="en-US" sz="4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Mobile and Performance Testing Project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6280189" y="4696148"/>
            <a:ext cx="7556421" cy="122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Team Members: [Nisreen Elaian]</a:t>
            </a:r>
            <a:endParaRPr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	               [Dina AbuQare]</a:t>
            </a:r>
            <a:endParaRPr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	               [Bashir Rimawi]</a:t>
            </a:r>
            <a:endParaRPr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280188" y="6164461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Date: [15.5.2025]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6396990" y="5917168"/>
            <a:ext cx="129183" cy="9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Open Sans Medium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6756440" y="5767626"/>
            <a:ext cx="2455426" cy="39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/>
          <p:nvPr/>
        </p:nvSpPr>
        <p:spPr>
          <a:xfrm>
            <a:off x="793790" y="1047512"/>
            <a:ext cx="62697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Agenda Overview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530906" y="21743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Introduction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Project scope and objectives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530906" y="355913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Mobile Testing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Overview, process, tools, challenges, results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530906" y="4943951"/>
            <a:ext cx="374392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Performance Testing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Overview, process, tools, challenges, results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530906" y="6328767"/>
            <a:ext cx="576345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Conclusion &amp; Recommendations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Key takeaways and next steps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954626"/>
            <a:ext cx="6689035" cy="3876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793790" y="2523053"/>
            <a:ext cx="1068812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Introduction to Mobile Testing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Definition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93790" y="4379952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Test apps for functionality, usability, consistency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332928" y="37988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Importance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332928" y="4379952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Ensures optimal user experience and reliability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872067" y="37988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App Types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872067" y="4379952"/>
            <a:ext cx="39781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Native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872067" y="4822150"/>
            <a:ext cx="39781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Web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872067" y="5264348"/>
            <a:ext cx="39781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Hybrid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6280190" y="1364933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Application Under Test: Sauce Labs Sample App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280190" y="383143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7017306" y="3909298"/>
            <a:ext cx="28994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Features Tested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017306" y="4754047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Login, Add to Cart, Remove from Cart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0200203" y="383143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0937319" y="39092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Platform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0937319" y="4475917"/>
            <a:ext cx="2899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Android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280190" y="5933480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017306" y="6011347"/>
            <a:ext cx="316468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Testing Approach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017306" y="6501765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Automation Testing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780" y="370378"/>
            <a:ext cx="3667637" cy="7859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793802" y="1859753"/>
            <a:ext cx="12717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Mobile Testing Process &amp; Tools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93790" y="31355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Process Steps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93790" y="371665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APK Acquisition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2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Emulator Setup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3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Appium Server Configuration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4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Test Script Development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93790" y="54854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5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Test Execution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93790" y="592764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6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Result Analysis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599521" y="31355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Tools Used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599521" y="371665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Appium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Android Emulator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Eclipse IDE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UIAutomator Viewer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Sauce Labs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1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6214229" y="571857"/>
            <a:ext cx="7688342" cy="1299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050"/>
              <a:buFont typeface="Unbounded"/>
              <a:buNone/>
            </a:pPr>
            <a:r>
              <a:rPr b="1" lang="en-US" sz="40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Challenges in Mobile Testing</a:t>
            </a:r>
            <a:endParaRPr sz="4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214229" y="2183368"/>
            <a:ext cx="7688342" cy="1213247"/>
          </a:xfrm>
          <a:prstGeom prst="roundRect">
            <a:avLst>
              <a:gd fmla="val 719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429732" y="2398871"/>
            <a:ext cx="2987516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00"/>
              <a:buFont typeface="Unbounded"/>
              <a:buNone/>
            </a:pPr>
            <a:r>
              <a:rPr b="1" lang="en-US" sz="20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APK Compatibility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429732" y="2848332"/>
            <a:ext cx="7257336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Finding working APK for emulator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14229" y="3604498"/>
            <a:ext cx="7688342" cy="1213247"/>
          </a:xfrm>
          <a:prstGeom prst="roundRect">
            <a:avLst>
              <a:gd fmla="val 719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429732" y="3820001"/>
            <a:ext cx="3737848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00"/>
              <a:buFont typeface="Unbounded"/>
              <a:buNone/>
            </a:pPr>
            <a:r>
              <a:rPr b="1" lang="en-US" sz="20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Emulator Performance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429732" y="4269462"/>
            <a:ext cx="7257336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Lag and crashes during tests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14229" y="5025628"/>
            <a:ext cx="7688342" cy="1213247"/>
          </a:xfrm>
          <a:prstGeom prst="roundRect">
            <a:avLst>
              <a:gd fmla="val 719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429732" y="5241131"/>
            <a:ext cx="3007281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00"/>
              <a:buFont typeface="Unbounded"/>
              <a:buNone/>
            </a:pPr>
            <a:r>
              <a:rPr b="1" lang="en-US" sz="20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Capabilities Setup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29732" y="5690592"/>
            <a:ext cx="7257336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Time-consuming device configuration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214229" y="6446758"/>
            <a:ext cx="7688342" cy="1213247"/>
          </a:xfrm>
          <a:prstGeom prst="roundRect">
            <a:avLst>
              <a:gd fmla="val 719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429732" y="6662261"/>
            <a:ext cx="2599372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00"/>
              <a:buFont typeface="Unbounded"/>
              <a:buNone/>
            </a:pPr>
            <a:r>
              <a:rPr b="1" lang="en-US" sz="20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Tool Integration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429732" y="7111722"/>
            <a:ext cx="7257336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Issues integrating Appium with Eclipse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793790" y="2335887"/>
            <a:ext cx="798873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Mobile Testing Results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93790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Test Cases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Login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93790" y="463498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Add to Cart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93790" y="507718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Remove from Cart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495648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Success Rate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495648" y="427490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Login fails in some functionalities</a:t>
            </a:r>
            <a:endParaRPr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Add to Cart  works as expected</a:t>
            </a:r>
            <a:endParaRPr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495648" y="585580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Remove from Cart works as expected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468937" y="531150"/>
            <a:ext cx="798873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Mobile Testing Results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93790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793790" y="463498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93790" y="507718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495648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495648" y="427490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495648" y="585580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37" y="1615876"/>
            <a:ext cx="12155596" cy="399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468937" y="531150"/>
            <a:ext cx="798873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Mobile Testing Results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93790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793790" y="463498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793790" y="507718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495648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495648" y="427490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495648" y="585580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852" y="1289303"/>
            <a:ext cx="9440592" cy="6697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468937" y="531150"/>
            <a:ext cx="798873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Mobile Testing Results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793790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793790" y="463498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93790" y="507718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495648" y="3611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495648" y="427490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7495648" y="585580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37" y="1515383"/>
            <a:ext cx="13854632" cy="5787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/>
          <p:nvPr/>
        </p:nvSpPr>
        <p:spPr>
          <a:xfrm>
            <a:off x="793790" y="145422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Introduction to Performance Testing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793790" y="321194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1530906" y="32898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Definition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1530906" y="3780234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Evaluate responsiveness, stability, scalability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713803" y="321194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5450919" y="32898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Importance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450919" y="3780234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Ensure app handles expected user traffic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93790" y="495966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1530906" y="50375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Test Types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1530906" y="5527953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Load Testing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530906" y="5970151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530906" y="6412349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/>
          <p:nvPr/>
        </p:nvSpPr>
        <p:spPr>
          <a:xfrm>
            <a:off x="793790" y="1495425"/>
            <a:ext cx="1175396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Performance Testing Application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793790" y="27711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Website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793790" y="335232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Reqres.in API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56093" y="4160044"/>
            <a:ext cx="311062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Endpoints Tested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793790" y="452318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GET All Users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93790" y="49653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GET Single User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93790" y="54075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POST Create User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793790" y="58497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PUT Update User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793790" y="6368177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DELETE User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7599521" y="27711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Testing Tool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7599521" y="335232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Apache JMeter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4949" y="2378908"/>
            <a:ext cx="2255825" cy="14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7256" y="3978831"/>
            <a:ext cx="5715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/>
          <p:nvPr/>
        </p:nvSpPr>
        <p:spPr>
          <a:xfrm>
            <a:off x="793790" y="1063109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Performance Testing Process &amp; Tools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793790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Process Steps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793790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Test Plan Creation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793790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2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Thread Group Configuration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793790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3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Sampler Setup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793790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4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Timer Implementation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793790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5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Assertion Addition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793790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6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Listener Configuration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793790" y="62819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7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Test Execution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793790" y="67241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alibri"/>
              <a:buAutoNum type="arabicPeriod" startAt="8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Result Analysis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7599521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lang="en-US" sz="22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Tools Used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7599521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Apache JMeter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7599521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JSR223 PostProcessor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7599521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View Results Tree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7599521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Summary Report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7599521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Graph Results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7599521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Char char="•"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Assertion Results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/>
          <p:nvPr/>
        </p:nvSpPr>
        <p:spPr>
          <a:xfrm>
            <a:off x="793790" y="1063109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Challenges in Performance Testing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793790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793790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793790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793790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793790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793790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793790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793790" y="62819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793790" y="67241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7599521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7599521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7599521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7599521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7599521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7599521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7599521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182212" y="2738793"/>
            <a:ext cx="10539600" cy="5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700"/>
              <a:buFont typeface="Open Sans"/>
              <a:buChar char="o"/>
            </a:pPr>
            <a:r>
              <a:rPr b="1" i="0" lang="en-US" sz="2700" u="none" cap="none" strike="noStrike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Unauthorized Access Errors: Encountered 401 errors due to missing Header Manager.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  <a:p>
            <a:pPr indent="-174625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ourier New"/>
              <a:buNone/>
            </a:pPr>
            <a:r>
              <a:t/>
            </a:r>
            <a:endParaRPr b="1" i="0" sz="2700" u="none" cap="none" strike="noStrike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4625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ourier New"/>
              <a:buNone/>
            </a:pPr>
            <a:r>
              <a:t/>
            </a:r>
            <a:endParaRPr b="1" i="0" sz="2700" u="none" cap="none" strike="noStrike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00" u="none" cap="none" strike="noStrike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6075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700"/>
              <a:buFont typeface="Open Sans"/>
              <a:buChar char="o"/>
            </a:pPr>
            <a:r>
              <a:rPr b="1" i="0" lang="en-US" sz="2700" u="none" cap="none" strike="noStrike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Assertion Failures: Incorrect status code expectations led to test failures.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  <a:p>
            <a:pPr indent="-174625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ourier New"/>
              <a:buNone/>
            </a:pPr>
            <a:r>
              <a:t/>
            </a:r>
            <a:endParaRPr b="1" i="0" sz="2700" u="none" cap="none" strike="noStrike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4625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ourier New"/>
              <a:buNone/>
            </a:pPr>
            <a:r>
              <a:t/>
            </a:r>
            <a:endParaRPr b="1" i="0" sz="2700" u="none" cap="none" strike="noStrike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4625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ourier New"/>
              <a:buNone/>
            </a:pPr>
            <a:r>
              <a:t/>
            </a:r>
            <a:endParaRPr b="1" i="0" sz="2700" u="none" cap="none" strike="noStrike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00" u="none" cap="none" strike="noStrike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6075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700"/>
              <a:buFont typeface="Courier New"/>
              <a:buChar char="o"/>
            </a:pPr>
            <a:r>
              <a:rPr b="1" i="0" lang="en-US" sz="2700" u="none" cap="none" strike="noStrike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Timer Configuration: Determining appropriate delays for realistic simulation</a:t>
            </a:r>
            <a:r>
              <a:rPr i="0" lang="en-US" sz="2700" u="none" cap="none" strike="noStrike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/>
          <p:nvPr/>
        </p:nvSpPr>
        <p:spPr>
          <a:xfrm>
            <a:off x="396748" y="613691"/>
            <a:ext cx="13042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Performance Testing Results</a:t>
            </a:r>
            <a:endParaRPr sz="445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1207021" y="2281084"/>
            <a:ext cx="13283100" cy="3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793790" y="3628787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750"/>
              <a:buFont typeface="Open Sans"/>
              <a:buNone/>
            </a:pPr>
            <a:r>
              <a:rPr b="1"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Timers Implemented:</a:t>
            </a:r>
            <a:endParaRPr b="1" sz="250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750"/>
              <a:buFont typeface="Open Sans"/>
              <a:buNone/>
            </a:pPr>
            <a:r>
              <a:t/>
            </a:r>
            <a:endParaRPr b="1" sz="250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5875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500"/>
              <a:buFont typeface="Open Sans"/>
              <a:buChar char="•"/>
            </a:pPr>
            <a:r>
              <a:rPr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GET All Users: Constant Timer (1000ms)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  <a:p>
            <a:pPr indent="-15875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500"/>
              <a:buFont typeface="Open Sans"/>
              <a:buChar char="•"/>
            </a:pPr>
            <a:r>
              <a:rPr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GET Single User: Uniform Random Timer (500-1000ms)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  <a:p>
            <a:pPr indent="-15875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500"/>
              <a:buFont typeface="Open Sans"/>
              <a:buChar char="•"/>
            </a:pPr>
            <a:r>
              <a:rPr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POST Create User: Gaussian Random Timer (700ms offset, 300ms deviation)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  <a:p>
            <a:pPr indent="-15875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500"/>
              <a:buFont typeface="Open Sans"/>
              <a:buChar char="•"/>
            </a:pPr>
            <a:r>
              <a:rPr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PUT Update User: Constant Timer (800ms)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  <a:p>
            <a:pPr indent="-15875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500"/>
              <a:buFont typeface="Open Sans"/>
              <a:buChar char="•"/>
            </a:pPr>
            <a:r>
              <a:rPr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DELETE User: Constant Timer (600ms)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1327190" y="4070985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327190" y="4513183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1327190" y="4955381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1327190" y="5397579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327190" y="5839778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327190" y="6281976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327190" y="6724174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7599521" y="304764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7599521" y="3628787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8132921" y="4070985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8132921" y="4513183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8132921" y="4955381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8132921" y="5397579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8132921" y="5839778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665531" y="1917866"/>
            <a:ext cx="8097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Test Configuration: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  <a:p>
            <a:pPr indent="-3333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500"/>
              <a:buFont typeface="Open Sans"/>
              <a:buChar char="•"/>
            </a:pPr>
            <a:r>
              <a:rPr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Users: 10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  <a:p>
            <a:pPr indent="-3333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500"/>
              <a:buFont typeface="Open Sans"/>
              <a:buChar char="•"/>
            </a:pPr>
            <a:r>
              <a:rPr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Ramp-Up Period: 30 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  <a:p>
            <a:pPr indent="-3333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500"/>
              <a:buFont typeface="Open Sans"/>
              <a:buChar char="•"/>
            </a:pPr>
            <a:r>
              <a:rPr lang="en-US" sz="250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secondsLoop Count: 20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/>
          <p:nvPr/>
        </p:nvSpPr>
        <p:spPr>
          <a:xfrm>
            <a:off x="396748" y="61369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Performance Testing Results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73621" y="2281084"/>
            <a:ext cx="13283157" cy="39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793790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1" sz="175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793790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793790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793790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793790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793790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793790" y="62819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793790" y="67241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7599521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7599521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7599521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7599521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7599521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7599521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7599521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275" y="1763221"/>
            <a:ext cx="13508335" cy="446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/>
          <p:nvPr/>
        </p:nvSpPr>
        <p:spPr>
          <a:xfrm>
            <a:off x="396748" y="61369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Performance Testing Results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673621" y="2281084"/>
            <a:ext cx="13283157" cy="39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793790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1" sz="175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793790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793790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793790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793790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793790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793790" y="62819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793790" y="67241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7599521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7599521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7599521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7599521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7599521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7599521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7599521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8584" y="1574030"/>
            <a:ext cx="10629893" cy="659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/>
          <p:nvPr/>
        </p:nvSpPr>
        <p:spPr>
          <a:xfrm>
            <a:off x="396748" y="61369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Performance Testing Results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673621" y="2281084"/>
            <a:ext cx="13283157" cy="39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793790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1" sz="175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793790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793790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793790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793790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793790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793790" y="62819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793790" y="67241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7599521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7599521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7599521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7599521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7599521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7599521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7599521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584721"/>
            <a:ext cx="9672851" cy="5943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"/>
          <p:cNvSpPr/>
          <p:nvPr/>
        </p:nvSpPr>
        <p:spPr>
          <a:xfrm>
            <a:off x="396748" y="61369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Performance Testing Results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673621" y="2281084"/>
            <a:ext cx="13283157" cy="39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793790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1" sz="175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793790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793790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793790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793790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793790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793790" y="62819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793790" y="67241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7599521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7599521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7599521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7599521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7599521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7599521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7599521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747" y="1476312"/>
            <a:ext cx="10939406" cy="6799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"/>
          <p:cNvSpPr/>
          <p:nvPr/>
        </p:nvSpPr>
        <p:spPr>
          <a:xfrm>
            <a:off x="396748" y="61369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Conclusion &amp; Recommendations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793796" y="2031259"/>
            <a:ext cx="13283100" cy="3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706240" y="1859987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Mobile Testing: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Ensure emulator compatibility with APKs.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Optimize desired capabilities for different devices.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Performance Testing: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Include necessary headers to prevent unauthorized errors.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Validate assertion conditions to match expected outcomes.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General Recommendations: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Regularly update testing tools to the latest versions.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  <a:p>
            <a:pPr indent="-3714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250"/>
              <a:buFont typeface="Open Sans"/>
              <a:buChar char="●"/>
            </a:pPr>
            <a:r>
              <a:rPr b="1" lang="en-US" sz="2250">
                <a:solidFill>
                  <a:srgbClr val="2F5496"/>
                </a:solidFill>
                <a:latin typeface="Open Sans"/>
                <a:ea typeface="Open Sans"/>
                <a:cs typeface="Open Sans"/>
                <a:sym typeface="Open Sans"/>
              </a:rPr>
              <a:t>Document test cases and results for future reference.</a:t>
            </a:r>
            <a:endParaRPr sz="225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793790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793790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793790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793790" y="62819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793790" y="67241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7599521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7599521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7599521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7599521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7599521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7599521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7599521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/>
          <p:nvPr/>
        </p:nvSpPr>
        <p:spPr>
          <a:xfrm>
            <a:off x="396748" y="613691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4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Q&amp;A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673621" y="2281084"/>
            <a:ext cx="13283157" cy="39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793790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1" sz="1750">
              <a:solidFill>
                <a:srgbClr val="2F549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793790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793790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793790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793790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793790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793790" y="62819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793790" y="67241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7599521" y="304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7599521" y="362878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7599521" y="407098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7599521" y="451318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7599521" y="495538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7599521" y="539757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7599521" y="58397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1775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673621" y="2173733"/>
            <a:ext cx="73152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68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Open Sans"/>
              <a:buChar char="●"/>
            </a:pPr>
            <a:r>
              <a:rPr lang="en-US" sz="26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Open the floor for questions and discussions</a:t>
            </a:r>
            <a:endParaRPr sz="265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2025-05-15T13:18:00Z</dcterms:created>
  <dc:creator>PptxGenJS</dc:creator>
</cp:coreProperties>
</file>